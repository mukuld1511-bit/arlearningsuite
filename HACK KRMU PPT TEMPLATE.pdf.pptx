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lvetica World" charset="1" panose="020B0500040000020004"/>
      <p:regular r:id="rId13"/>
    </p:embeddedFont>
    <p:embeddedFont>
      <p:font typeface="Intro" charset="1" panose="02000000000000000000"/>
      <p:regular r:id="rId14"/>
    </p:embeddedFont>
    <p:embeddedFont>
      <p:font typeface="Canva Sans" charset="1" panose="020B0503030501040103"/>
      <p:regular r:id="rId15"/>
    </p:embeddedFont>
    <p:embeddedFont>
      <p:font typeface="Montserrat Bold" charset="1" panose="00000600000000000000"/>
      <p:regular r:id="rId16"/>
    </p:embeddedFont>
    <p:embeddedFont>
      <p:font typeface="Canva Sans Medium" charset="1" panose="020B0603030501040103"/>
      <p:regular r:id="rId17"/>
    </p:embeddedFont>
    <p:embeddedFont>
      <p:font typeface="Canva Sans Bold" charset="1" panose="020B0803030501040103"/>
      <p:regular r:id="rId18"/>
    </p:embeddedFont>
    <p:embeddedFont>
      <p:font typeface="Helvetica World Bold" charset="1" panose="020B080004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sv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jpeg" Type="http://schemas.openxmlformats.org/officeDocument/2006/relationships/image"/><Relationship Id="rId7" Target="../media/image2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101" y="2741590"/>
            <a:ext cx="208264" cy="208264"/>
          </a:xfrm>
          <a:custGeom>
            <a:avLst/>
            <a:gdLst/>
            <a:ahLst/>
            <a:cxnLst/>
            <a:rect r="r" b="b" t="t" l="l"/>
            <a:pathLst>
              <a:path h="208264" w="208264">
                <a:moveTo>
                  <a:pt x="0" y="0"/>
                </a:moveTo>
                <a:lnTo>
                  <a:pt x="208264" y="0"/>
                </a:lnTo>
                <a:lnTo>
                  <a:pt x="208264" y="208264"/>
                </a:lnTo>
                <a:lnTo>
                  <a:pt x="0" y="208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101" y="4254198"/>
            <a:ext cx="208264" cy="208074"/>
          </a:xfrm>
          <a:custGeom>
            <a:avLst/>
            <a:gdLst/>
            <a:ahLst/>
            <a:cxnLst/>
            <a:rect r="r" b="b" t="t" l="l"/>
            <a:pathLst>
              <a:path h="208074" w="208264">
                <a:moveTo>
                  <a:pt x="0" y="0"/>
                </a:moveTo>
                <a:lnTo>
                  <a:pt x="208264" y="0"/>
                </a:lnTo>
                <a:lnTo>
                  <a:pt x="208264" y="208074"/>
                </a:lnTo>
                <a:lnTo>
                  <a:pt x="0" y="208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1101" y="5912987"/>
            <a:ext cx="208264" cy="208264"/>
          </a:xfrm>
          <a:custGeom>
            <a:avLst/>
            <a:gdLst/>
            <a:ahLst/>
            <a:cxnLst/>
            <a:rect r="r" b="b" t="t" l="l"/>
            <a:pathLst>
              <a:path h="208264" w="208264">
                <a:moveTo>
                  <a:pt x="0" y="0"/>
                </a:moveTo>
                <a:lnTo>
                  <a:pt x="208264" y="0"/>
                </a:lnTo>
                <a:lnTo>
                  <a:pt x="208264" y="208264"/>
                </a:lnTo>
                <a:lnTo>
                  <a:pt x="0" y="208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101" y="7322048"/>
            <a:ext cx="208264" cy="208264"/>
          </a:xfrm>
          <a:custGeom>
            <a:avLst/>
            <a:gdLst/>
            <a:ahLst/>
            <a:cxnLst/>
            <a:rect r="r" b="b" t="t" l="l"/>
            <a:pathLst>
              <a:path h="208264" w="208264">
                <a:moveTo>
                  <a:pt x="0" y="0"/>
                </a:moveTo>
                <a:lnTo>
                  <a:pt x="208264" y="0"/>
                </a:lnTo>
                <a:lnTo>
                  <a:pt x="208264" y="208265"/>
                </a:lnTo>
                <a:lnTo>
                  <a:pt x="0" y="208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81101" y="2741590"/>
            <a:ext cx="208264" cy="208264"/>
            <a:chOff x="0" y="0"/>
            <a:chExt cx="208267" cy="2082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282" cy="208282"/>
            </a:xfrm>
            <a:custGeom>
              <a:avLst/>
              <a:gdLst/>
              <a:ahLst/>
              <a:cxnLst/>
              <a:rect r="r" b="b" t="t" l="l"/>
              <a:pathLst>
                <a:path h="208282" w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81101" y="4254198"/>
            <a:ext cx="208264" cy="208264"/>
            <a:chOff x="0" y="0"/>
            <a:chExt cx="208267" cy="208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282" cy="208282"/>
            </a:xfrm>
            <a:custGeom>
              <a:avLst/>
              <a:gdLst/>
              <a:ahLst/>
              <a:cxnLst/>
              <a:rect r="r" b="b" t="t" l="l"/>
              <a:pathLst>
                <a:path h="208282" w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61007" y="5597003"/>
            <a:ext cx="420116" cy="420116"/>
            <a:chOff x="0" y="0"/>
            <a:chExt cx="208267" cy="2082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282" cy="208282"/>
            </a:xfrm>
            <a:custGeom>
              <a:avLst/>
              <a:gdLst/>
              <a:ahLst/>
              <a:cxnLst/>
              <a:rect r="r" b="b" t="t" l="l"/>
              <a:pathLst>
                <a:path h="208282" w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1101" y="7322048"/>
            <a:ext cx="208264" cy="208264"/>
            <a:chOff x="0" y="0"/>
            <a:chExt cx="208267" cy="2082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8282" cy="208282"/>
            </a:xfrm>
            <a:custGeom>
              <a:avLst/>
              <a:gdLst/>
              <a:ahLst/>
              <a:cxnLst/>
              <a:rect r="r" b="b" t="t" l="l"/>
              <a:pathLst>
                <a:path h="208282" w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499968" y="9557375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7629" y="2447363"/>
            <a:ext cx="13365663" cy="77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Problem Statement ID : AR VR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7629" y="4005324"/>
            <a:ext cx="10424631" cy="72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4"/>
              </a:lnSpc>
            </a:pPr>
            <a:r>
              <a:rPr lang="en-US" sz="421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Team Name : THE HasHIRAS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7629" y="5063603"/>
            <a:ext cx="14240810" cy="488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0"/>
              </a:lnSpc>
            </a:pPr>
            <a:r>
              <a:rPr lang="en-US" sz="475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TEAM ID : HK-003</a:t>
            </a:r>
          </a:p>
          <a:p>
            <a:pPr algn="l">
              <a:lnSpc>
                <a:spcPts val="7698"/>
              </a:lnSpc>
            </a:pPr>
            <a:r>
              <a:rPr lang="en-US" sz="330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 TEAM MEMBERS :            MUKUL</a:t>
            </a:r>
          </a:p>
          <a:p>
            <a:pPr algn="just">
              <a:lnSpc>
                <a:spcPts val="6667"/>
              </a:lnSpc>
            </a:pPr>
            <a:r>
              <a:rPr lang="en-US" sz="285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                                            </a:t>
            </a:r>
            <a:r>
              <a:rPr lang="en-US" sz="285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MUSKAN Saini</a:t>
            </a:r>
          </a:p>
          <a:p>
            <a:pPr algn="just">
              <a:lnSpc>
                <a:spcPts val="6667"/>
              </a:lnSpc>
            </a:pPr>
            <a:r>
              <a:rPr lang="en-US" sz="285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                                                </a:t>
            </a:r>
            <a:r>
              <a:rPr lang="en-US" sz="285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gurudutt</a:t>
            </a:r>
          </a:p>
          <a:p>
            <a:pPr algn="just">
              <a:lnSpc>
                <a:spcPts val="6667"/>
              </a:lnSpc>
            </a:pPr>
            <a:r>
              <a:rPr lang="en-US" sz="285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                                              </a:t>
            </a:r>
            <a:r>
              <a:rPr lang="en-US" sz="285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ayush arya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9124950" y="1585118"/>
            <a:ext cx="19050" cy="870188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27664" y="2123334"/>
            <a:ext cx="601036" cy="500224"/>
          </a:xfrm>
          <a:custGeom>
            <a:avLst/>
            <a:gdLst/>
            <a:ahLst/>
            <a:cxnLst/>
            <a:rect r="r" b="b" t="t" l="l"/>
            <a:pathLst>
              <a:path h="500224" w="601036">
                <a:moveTo>
                  <a:pt x="0" y="0"/>
                </a:moveTo>
                <a:lnTo>
                  <a:pt x="601036" y="0"/>
                </a:lnTo>
                <a:lnTo>
                  <a:pt x="601036" y="500224"/>
                </a:lnTo>
                <a:lnTo>
                  <a:pt x="0" y="500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65" t="0" r="-21928" b="-4658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7664" y="3509383"/>
            <a:ext cx="601036" cy="500224"/>
          </a:xfrm>
          <a:custGeom>
            <a:avLst/>
            <a:gdLst/>
            <a:ahLst/>
            <a:cxnLst/>
            <a:rect r="r" b="b" t="t" l="l"/>
            <a:pathLst>
              <a:path h="500224" w="601036">
                <a:moveTo>
                  <a:pt x="0" y="0"/>
                </a:moveTo>
                <a:lnTo>
                  <a:pt x="601036" y="0"/>
                </a:lnTo>
                <a:lnTo>
                  <a:pt x="601036" y="500225"/>
                </a:lnTo>
                <a:lnTo>
                  <a:pt x="0" y="500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65" t="0" r="-21928" b="-4658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7664" y="4895433"/>
            <a:ext cx="601036" cy="500224"/>
          </a:xfrm>
          <a:custGeom>
            <a:avLst/>
            <a:gdLst/>
            <a:ahLst/>
            <a:cxnLst/>
            <a:rect r="r" b="b" t="t" l="l"/>
            <a:pathLst>
              <a:path h="500224" w="601036">
                <a:moveTo>
                  <a:pt x="0" y="0"/>
                </a:moveTo>
                <a:lnTo>
                  <a:pt x="601036" y="0"/>
                </a:lnTo>
                <a:lnTo>
                  <a:pt x="601036" y="500224"/>
                </a:lnTo>
                <a:lnTo>
                  <a:pt x="0" y="500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65" t="0" r="-21928" b="-4658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7664" y="6281482"/>
            <a:ext cx="601036" cy="500224"/>
          </a:xfrm>
          <a:custGeom>
            <a:avLst/>
            <a:gdLst/>
            <a:ahLst/>
            <a:cxnLst/>
            <a:rect r="r" b="b" t="t" l="l"/>
            <a:pathLst>
              <a:path h="500224" w="601036">
                <a:moveTo>
                  <a:pt x="0" y="0"/>
                </a:moveTo>
                <a:lnTo>
                  <a:pt x="601036" y="0"/>
                </a:lnTo>
                <a:lnTo>
                  <a:pt x="601036" y="500224"/>
                </a:lnTo>
                <a:lnTo>
                  <a:pt x="0" y="500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65" t="0" r="-21928" b="-4658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7664" y="7667531"/>
            <a:ext cx="601036" cy="500224"/>
          </a:xfrm>
          <a:custGeom>
            <a:avLst/>
            <a:gdLst/>
            <a:ahLst/>
            <a:cxnLst/>
            <a:rect r="r" b="b" t="t" l="l"/>
            <a:pathLst>
              <a:path h="500224" w="601036">
                <a:moveTo>
                  <a:pt x="0" y="0"/>
                </a:moveTo>
                <a:lnTo>
                  <a:pt x="601036" y="0"/>
                </a:lnTo>
                <a:lnTo>
                  <a:pt x="601036" y="500225"/>
                </a:lnTo>
                <a:lnTo>
                  <a:pt x="0" y="500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65" t="0" r="-21928" b="-4658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5400000">
            <a:off x="13392873" y="2239612"/>
            <a:ext cx="785633" cy="418048"/>
            <a:chOff x="0" y="0"/>
            <a:chExt cx="1046280" cy="5567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280" cy="556743"/>
            </a:xfrm>
            <a:custGeom>
              <a:avLst/>
              <a:gdLst/>
              <a:ahLst/>
              <a:cxnLst/>
              <a:rect r="r" b="b" t="t" l="l"/>
              <a:pathLst>
                <a:path h="556743" w="1046280">
                  <a:moveTo>
                    <a:pt x="0" y="27837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046280" y="203200"/>
                  </a:lnTo>
                  <a:lnTo>
                    <a:pt x="1046280" y="353543"/>
                  </a:lnTo>
                  <a:lnTo>
                    <a:pt x="406400" y="353543"/>
                  </a:lnTo>
                  <a:lnTo>
                    <a:pt x="406400" y="556743"/>
                  </a:lnTo>
                  <a:lnTo>
                    <a:pt x="0" y="278372"/>
                  </a:ln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165100"/>
              <a:ext cx="944680" cy="188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89515" y="3702839"/>
            <a:ext cx="679884" cy="679472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7569205" y="9570044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31468" y="885184"/>
            <a:ext cx="5425064" cy="63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1"/>
              </a:lnSpc>
            </a:pPr>
            <a:r>
              <a:rPr lang="en-US" sz="3651">
                <a:solidFill>
                  <a:srgbClr val="1F77D9"/>
                </a:solidFill>
                <a:latin typeface="Intro"/>
                <a:ea typeface="Intro"/>
                <a:cs typeface="Intro"/>
                <a:sym typeface="Intro"/>
              </a:rPr>
              <a:t>Problem &amp; SOLUTION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52416" y="1441602"/>
            <a:ext cx="2902893" cy="61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5 problems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11905" y="2895165"/>
            <a:ext cx="4947568" cy="61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1 optimal solution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489515" y="4782334"/>
            <a:ext cx="679884" cy="679472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89515" y="5861829"/>
            <a:ext cx="679884" cy="679472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89515" y="6884883"/>
            <a:ext cx="679884" cy="679472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9515" y="7860987"/>
            <a:ext cx="679884" cy="679472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221429" y="1998670"/>
            <a:ext cx="750347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Need to download too many AR apps for different experiences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1429" y="3346669"/>
            <a:ext cx="775234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Different Apps use different engines, hence different dependency had to be downloaded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5539" y="5010646"/>
            <a:ext cx="760936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 Apps use large storage space due to heavy assets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5539" y="6267356"/>
            <a:ext cx="76093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prominant AR Based Learning App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5539" y="7450548"/>
            <a:ext cx="760936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Need for AR Based Learning in Health, Tourism, Nutrition and Fitness Sector.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73716" y="3702346"/>
            <a:ext cx="76093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 Single App for Various AR Models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73716" y="4870669"/>
            <a:ext cx="76093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Easy updates for newer versions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73716" y="6993348"/>
            <a:ext cx="76093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Offline Interface makes it stable.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73716" y="7860494"/>
            <a:ext cx="760936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Quality assets along with very memory effecient app size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73716" y="6017244"/>
            <a:ext cx="76093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Based on One Defined Game Engine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4115740" y="3240963"/>
            <a:ext cx="684859" cy="406207"/>
            <a:chOff x="0" y="0"/>
            <a:chExt cx="831317" cy="4930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31317" cy="493074"/>
            </a:xfrm>
            <a:custGeom>
              <a:avLst/>
              <a:gdLst/>
              <a:ahLst/>
              <a:cxnLst/>
              <a:rect r="r" b="b" t="t" l="l"/>
              <a:pathLst>
                <a:path h="493074" w="831317">
                  <a:moveTo>
                    <a:pt x="0" y="24653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31317" y="203200"/>
                  </a:lnTo>
                  <a:lnTo>
                    <a:pt x="831317" y="289874"/>
                  </a:lnTo>
                  <a:lnTo>
                    <a:pt x="406400" y="289874"/>
                  </a:lnTo>
                  <a:lnTo>
                    <a:pt x="406400" y="493074"/>
                  </a:lnTo>
                  <a:lnTo>
                    <a:pt x="0" y="246537"/>
                  </a:lnTo>
                  <a:close/>
                </a:path>
              </a:pathLst>
            </a:custGeom>
            <a:solidFill>
              <a:srgbClr val="1F77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165100"/>
              <a:ext cx="729717" cy="124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4115740" y="4436911"/>
            <a:ext cx="684859" cy="406207"/>
            <a:chOff x="0" y="0"/>
            <a:chExt cx="831317" cy="4930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1317" cy="493074"/>
            </a:xfrm>
            <a:custGeom>
              <a:avLst/>
              <a:gdLst/>
              <a:ahLst/>
              <a:cxnLst/>
              <a:rect r="r" b="b" t="t" l="l"/>
              <a:pathLst>
                <a:path h="493074" w="831317">
                  <a:moveTo>
                    <a:pt x="0" y="24653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31317" y="203200"/>
                  </a:lnTo>
                  <a:lnTo>
                    <a:pt x="831317" y="289874"/>
                  </a:lnTo>
                  <a:lnTo>
                    <a:pt x="406400" y="289874"/>
                  </a:lnTo>
                  <a:lnTo>
                    <a:pt x="406400" y="493074"/>
                  </a:lnTo>
                  <a:lnTo>
                    <a:pt x="0" y="246537"/>
                  </a:lnTo>
                  <a:close/>
                </a:path>
              </a:pathLst>
            </a:custGeom>
            <a:solidFill>
              <a:srgbClr val="1F77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165100"/>
              <a:ext cx="729717" cy="124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4115740" y="5766267"/>
            <a:ext cx="684859" cy="406207"/>
            <a:chOff x="0" y="0"/>
            <a:chExt cx="831317" cy="4930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1317" cy="493074"/>
            </a:xfrm>
            <a:custGeom>
              <a:avLst/>
              <a:gdLst/>
              <a:ahLst/>
              <a:cxnLst/>
              <a:rect r="r" b="b" t="t" l="l"/>
              <a:pathLst>
                <a:path h="493074" w="831317">
                  <a:moveTo>
                    <a:pt x="0" y="24653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31317" y="203200"/>
                  </a:lnTo>
                  <a:lnTo>
                    <a:pt x="831317" y="289874"/>
                  </a:lnTo>
                  <a:lnTo>
                    <a:pt x="406400" y="289874"/>
                  </a:lnTo>
                  <a:lnTo>
                    <a:pt x="406400" y="493074"/>
                  </a:lnTo>
                  <a:lnTo>
                    <a:pt x="0" y="246537"/>
                  </a:lnTo>
                  <a:close/>
                </a:path>
              </a:pathLst>
            </a:custGeom>
            <a:solidFill>
              <a:srgbClr val="1F77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165100"/>
              <a:ext cx="729717" cy="124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4110274" y="7133158"/>
            <a:ext cx="684859" cy="417139"/>
            <a:chOff x="0" y="0"/>
            <a:chExt cx="831317" cy="5063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1317" cy="506345"/>
            </a:xfrm>
            <a:custGeom>
              <a:avLst/>
              <a:gdLst/>
              <a:ahLst/>
              <a:cxnLst/>
              <a:rect r="r" b="b" t="t" l="l"/>
              <a:pathLst>
                <a:path h="506345" w="831317">
                  <a:moveTo>
                    <a:pt x="0" y="25317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31317" y="203200"/>
                  </a:lnTo>
                  <a:lnTo>
                    <a:pt x="831317" y="303145"/>
                  </a:lnTo>
                  <a:lnTo>
                    <a:pt x="406400" y="303145"/>
                  </a:lnTo>
                  <a:lnTo>
                    <a:pt x="406400" y="506345"/>
                  </a:lnTo>
                  <a:lnTo>
                    <a:pt x="0" y="253172"/>
                  </a:lnTo>
                  <a:close/>
                </a:path>
              </a:pathLst>
            </a:custGeom>
            <a:solidFill>
              <a:srgbClr val="1F77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165100"/>
              <a:ext cx="729717" cy="138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779294" y="395599"/>
            <a:ext cx="2480006" cy="5376707"/>
          </a:xfrm>
          <a:custGeom>
            <a:avLst/>
            <a:gdLst/>
            <a:ahLst/>
            <a:cxnLst/>
            <a:rect r="r" b="b" t="t" l="l"/>
            <a:pathLst>
              <a:path h="5376707" w="2480006">
                <a:moveTo>
                  <a:pt x="0" y="0"/>
                </a:moveTo>
                <a:lnTo>
                  <a:pt x="2480006" y="0"/>
                </a:lnTo>
                <a:lnTo>
                  <a:pt x="2480006" y="5376707"/>
                </a:lnTo>
                <a:lnTo>
                  <a:pt x="0" y="5376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80095" y="5948698"/>
            <a:ext cx="3412863" cy="3832224"/>
          </a:xfrm>
          <a:custGeom>
            <a:avLst/>
            <a:gdLst/>
            <a:ahLst/>
            <a:cxnLst/>
            <a:rect r="r" b="b" t="t" l="l"/>
            <a:pathLst>
              <a:path h="3832224" w="3412863">
                <a:moveTo>
                  <a:pt x="0" y="0"/>
                </a:moveTo>
                <a:lnTo>
                  <a:pt x="3412862" y="0"/>
                </a:lnTo>
                <a:lnTo>
                  <a:pt x="3412862" y="3832224"/>
                </a:lnTo>
                <a:lnTo>
                  <a:pt x="0" y="3832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7818" r="0" b="-5258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69898" y="2120707"/>
            <a:ext cx="3231272" cy="7303198"/>
          </a:xfrm>
          <a:custGeom>
            <a:avLst/>
            <a:gdLst/>
            <a:ahLst/>
            <a:cxnLst/>
            <a:rect r="r" b="b" t="t" l="l"/>
            <a:pathLst>
              <a:path h="7303198" w="3231272">
                <a:moveTo>
                  <a:pt x="0" y="0"/>
                </a:moveTo>
                <a:lnTo>
                  <a:pt x="3231272" y="0"/>
                </a:lnTo>
                <a:lnTo>
                  <a:pt x="3231272" y="7303198"/>
                </a:lnTo>
                <a:lnTo>
                  <a:pt x="0" y="7303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196" r="0" b="-1019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526257" y="9590827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88198" y="933450"/>
            <a:ext cx="6111604" cy="797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6"/>
              </a:lnSpc>
            </a:pPr>
            <a:r>
              <a:rPr lang="en-US" sz="4640">
                <a:solidFill>
                  <a:srgbClr val="1F77D9"/>
                </a:solidFill>
                <a:latin typeface="Intro"/>
                <a:ea typeface="Intro"/>
                <a:cs typeface="Intro"/>
                <a:sym typeface="Intro"/>
              </a:rPr>
              <a:t>FLOW OF SOLUTION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3831" y="2554814"/>
            <a:ext cx="6745235" cy="51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4"/>
              </a:lnSpc>
              <a:spcBef>
                <a:spcPct val="0"/>
              </a:spcBef>
            </a:pPr>
            <a:r>
              <a:rPr lang="en-US" sz="2981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User opens AR Learning Suite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3831" y="3772649"/>
            <a:ext cx="6296064" cy="52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Select AR learning module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0669" y="5087413"/>
            <a:ext cx="6542534" cy="52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AR Engine activates camera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4093" y="6427720"/>
            <a:ext cx="5747089" cy="52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AI / AR processes object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551" y="7798135"/>
            <a:ext cx="7677181" cy="52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Displays interactive AR content</a:t>
            </a:r>
          </a:p>
        </p:txBody>
      </p:sp>
      <p:grpSp>
        <p:nvGrpSpPr>
          <p:cNvPr name="Group 27" id="27"/>
          <p:cNvGrpSpPr/>
          <p:nvPr/>
        </p:nvGrpSpPr>
        <p:grpSpPr>
          <a:xfrm rot="134434">
            <a:off x="12210008" y="7055067"/>
            <a:ext cx="2864240" cy="578116"/>
            <a:chOff x="0" y="0"/>
            <a:chExt cx="4026967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26967" cy="812800"/>
            </a:xfrm>
            <a:custGeom>
              <a:avLst/>
              <a:gdLst/>
              <a:ahLst/>
              <a:cxnLst/>
              <a:rect r="r" b="b" t="t" l="l"/>
              <a:pathLst>
                <a:path h="812800" w="4026967">
                  <a:moveTo>
                    <a:pt x="4026967" y="406400"/>
                  </a:moveTo>
                  <a:lnTo>
                    <a:pt x="3620567" y="0"/>
                  </a:lnTo>
                  <a:lnTo>
                    <a:pt x="362056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3620567" y="609600"/>
                  </a:lnTo>
                  <a:lnTo>
                    <a:pt x="3620567" y="812800"/>
                  </a:lnTo>
                  <a:lnTo>
                    <a:pt x="4026967" y="40640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65100"/>
              <a:ext cx="392536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2305766">
            <a:off x="11638825" y="5444216"/>
            <a:ext cx="3468703" cy="578116"/>
            <a:chOff x="0" y="0"/>
            <a:chExt cx="4876809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9" cy="812800"/>
            </a:xfrm>
            <a:custGeom>
              <a:avLst/>
              <a:gdLst/>
              <a:ahLst/>
              <a:cxnLst/>
              <a:rect r="r" b="b" t="t" l="l"/>
              <a:pathLst>
                <a:path h="812800" w="4876809">
                  <a:moveTo>
                    <a:pt x="4876809" y="406400"/>
                  </a:moveTo>
                  <a:lnTo>
                    <a:pt x="4470409" y="0"/>
                  </a:lnTo>
                  <a:lnTo>
                    <a:pt x="447040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470409" y="609600"/>
                  </a:lnTo>
                  <a:lnTo>
                    <a:pt x="4470409" y="812800"/>
                  </a:lnTo>
                  <a:lnTo>
                    <a:pt x="4876809" y="40640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165100"/>
              <a:ext cx="477520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330309" y="2979187"/>
            <a:ext cx="1318688" cy="765602"/>
          </a:xfrm>
          <a:custGeom>
            <a:avLst/>
            <a:gdLst/>
            <a:ahLst/>
            <a:cxnLst/>
            <a:rect r="r" b="b" t="t" l="l"/>
            <a:pathLst>
              <a:path h="765602" w="1318688">
                <a:moveTo>
                  <a:pt x="0" y="0"/>
                </a:moveTo>
                <a:lnTo>
                  <a:pt x="1318688" y="0"/>
                </a:lnTo>
                <a:lnTo>
                  <a:pt x="1318688" y="765603"/>
                </a:lnTo>
                <a:lnTo>
                  <a:pt x="0" y="765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590" r="0" b="-1459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30309" y="4131569"/>
            <a:ext cx="1153192" cy="892692"/>
          </a:xfrm>
          <a:custGeom>
            <a:avLst/>
            <a:gdLst/>
            <a:ahLst/>
            <a:cxnLst/>
            <a:rect r="r" b="b" t="t" l="l"/>
            <a:pathLst>
              <a:path h="892692" w="1153192">
                <a:moveTo>
                  <a:pt x="0" y="0"/>
                </a:moveTo>
                <a:lnTo>
                  <a:pt x="1153192" y="0"/>
                </a:lnTo>
                <a:lnTo>
                  <a:pt x="1153192" y="892692"/>
                </a:lnTo>
                <a:lnTo>
                  <a:pt x="0" y="892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590" r="0" b="-1459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60885" y="5252421"/>
            <a:ext cx="1318688" cy="636205"/>
          </a:xfrm>
          <a:custGeom>
            <a:avLst/>
            <a:gdLst/>
            <a:ahLst/>
            <a:cxnLst/>
            <a:rect r="r" b="b" t="t" l="l"/>
            <a:pathLst>
              <a:path h="636205" w="1318688">
                <a:moveTo>
                  <a:pt x="0" y="0"/>
                </a:moveTo>
                <a:lnTo>
                  <a:pt x="1318688" y="0"/>
                </a:lnTo>
                <a:lnTo>
                  <a:pt x="1318688" y="636205"/>
                </a:lnTo>
                <a:lnTo>
                  <a:pt x="0" y="636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590" r="0" b="-1459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60885" y="6195961"/>
            <a:ext cx="1545335" cy="672142"/>
          </a:xfrm>
          <a:custGeom>
            <a:avLst/>
            <a:gdLst/>
            <a:ahLst/>
            <a:cxnLst/>
            <a:rect r="r" b="b" t="t" l="l"/>
            <a:pathLst>
              <a:path h="672142" w="1545335">
                <a:moveTo>
                  <a:pt x="0" y="0"/>
                </a:moveTo>
                <a:lnTo>
                  <a:pt x="1545335" y="0"/>
                </a:lnTo>
                <a:lnTo>
                  <a:pt x="1545335" y="672142"/>
                </a:lnTo>
                <a:lnTo>
                  <a:pt x="0" y="672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590" r="0" b="-1459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60885" y="7172903"/>
            <a:ext cx="1318688" cy="741027"/>
          </a:xfrm>
          <a:custGeom>
            <a:avLst/>
            <a:gdLst/>
            <a:ahLst/>
            <a:cxnLst/>
            <a:rect r="r" b="b" t="t" l="l"/>
            <a:pathLst>
              <a:path h="741027" w="1318688">
                <a:moveTo>
                  <a:pt x="0" y="0"/>
                </a:moveTo>
                <a:lnTo>
                  <a:pt x="1318688" y="0"/>
                </a:lnTo>
                <a:lnTo>
                  <a:pt x="1318688" y="741027"/>
                </a:lnTo>
                <a:lnTo>
                  <a:pt x="0" y="7410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8977" r="0" b="-3897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60871" y="9764563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30309" y="971550"/>
            <a:ext cx="5627382" cy="54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b="true" sz="3266" spc="-39">
                <a:solidFill>
                  <a:srgbClr val="1F77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 &amp; APPROACH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42868" y="3148992"/>
            <a:ext cx="9475485" cy="493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6372" indent="-278186" lvl="1">
              <a:lnSpc>
                <a:spcPts val="3607"/>
              </a:lnSpc>
              <a:buFont typeface="Arial"/>
              <a:buChar char="•"/>
            </a:pPr>
            <a:r>
              <a:rPr lang="en-US" b="true" sz="2576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Developed AR Learning Suite as a modular Unity-based platform</a:t>
            </a:r>
          </a:p>
          <a:p>
            <a:pPr algn="l" marL="556372" indent="-278186" lvl="1">
              <a:lnSpc>
                <a:spcPts val="3607"/>
              </a:lnSpc>
              <a:buFont typeface="Arial"/>
              <a:buChar char="•"/>
            </a:pPr>
            <a:r>
              <a:rPr lang="en-US" b="true" sz="2576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Integrated ARCore for real-world object tracking and visualization</a:t>
            </a:r>
          </a:p>
          <a:p>
            <a:pPr algn="l" marL="556372" indent="-278186" lvl="1">
              <a:lnSpc>
                <a:spcPts val="3607"/>
              </a:lnSpc>
              <a:buFont typeface="Arial"/>
              <a:buChar char="•"/>
            </a:pPr>
            <a:r>
              <a:rPr lang="en-US" b="true" sz="2576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Created multiple AR learning modules inside one app</a:t>
            </a:r>
          </a:p>
          <a:p>
            <a:pPr algn="l" marL="556372" indent="-278186" lvl="1">
              <a:lnSpc>
                <a:spcPts val="3607"/>
              </a:lnSpc>
              <a:buFont typeface="Arial"/>
              <a:buChar char="•"/>
            </a:pPr>
            <a:r>
              <a:rPr lang="en-US" b="true" sz="2576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Used MobileNet AI for intelligent object detection</a:t>
            </a:r>
          </a:p>
          <a:p>
            <a:pPr algn="l" marL="556372" indent="-278186" lvl="1">
              <a:lnSpc>
                <a:spcPts val="3607"/>
              </a:lnSpc>
              <a:buFont typeface="Arial"/>
              <a:buChar char="•"/>
            </a:pPr>
            <a:r>
              <a:rPr lang="en-US" b="true" sz="2576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Optimized system using TensorFlow Lite for mobile devices</a:t>
            </a:r>
          </a:p>
          <a:p>
            <a:pPr algn="l" marL="556372" indent="-278186" lvl="1">
              <a:lnSpc>
                <a:spcPts val="3607"/>
              </a:lnSpc>
              <a:buFont typeface="Arial"/>
              <a:buChar char="•"/>
            </a:pPr>
            <a:r>
              <a:rPr lang="en-US" b="true" sz="2576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Designed scalable platform to support future AR learning apps</a:t>
            </a:r>
          </a:p>
          <a:p>
            <a:pPr algn="l">
              <a:lnSpc>
                <a:spcPts val="360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178050" y="1874399"/>
            <a:ext cx="3775236" cy="874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6"/>
              </a:lnSpc>
            </a:pPr>
            <a:r>
              <a:rPr lang="en-US" sz="507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Approaches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30269" y="1920470"/>
            <a:ext cx="4067106" cy="87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2"/>
              </a:lnSpc>
            </a:pPr>
            <a:r>
              <a:rPr lang="en-US" sz="508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Techstack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2773516"/>
            <a:ext cx="7823839" cy="494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643" indent="-347322" lvl="1">
              <a:lnSpc>
                <a:spcPts val="8043"/>
              </a:lnSpc>
              <a:buAutoNum type="arabicPeriod" startAt="1"/>
            </a:pPr>
            <a:r>
              <a:rPr lang="en-US" b="true" sz="321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AR Engine (ARCore)</a:t>
            </a:r>
          </a:p>
          <a:p>
            <a:pPr algn="just" marL="694643" indent="-347322" lvl="1">
              <a:lnSpc>
                <a:spcPts val="8043"/>
              </a:lnSpc>
              <a:buAutoNum type="arabicPeriod" startAt="1"/>
            </a:pPr>
            <a:r>
              <a:rPr lang="en-US" b="true" sz="321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Scripting Language (C#)</a:t>
            </a:r>
          </a:p>
          <a:p>
            <a:pPr algn="just" marL="694643" indent="-347322" lvl="1">
              <a:lnSpc>
                <a:spcPts val="8043"/>
              </a:lnSpc>
              <a:buAutoNum type="arabicPeriod" startAt="1"/>
            </a:pPr>
            <a:r>
              <a:rPr lang="en-US" b="true" sz="321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3D Modelling (Blender)</a:t>
            </a:r>
          </a:p>
          <a:p>
            <a:pPr algn="just" marL="694643" indent="-347322" lvl="1">
              <a:lnSpc>
                <a:spcPts val="8043"/>
              </a:lnSpc>
              <a:buAutoNum type="arabicPeriod" startAt="1"/>
            </a:pPr>
            <a:r>
              <a:rPr lang="en-US" b="true" sz="321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Game Engine (Unity)</a:t>
            </a:r>
          </a:p>
          <a:p>
            <a:pPr algn="just" marL="694643" indent="-347322" lvl="1">
              <a:lnSpc>
                <a:spcPts val="8043"/>
              </a:lnSpc>
              <a:buAutoNum type="arabicPeriod" startAt="1"/>
            </a:pPr>
            <a:r>
              <a:rPr lang="en-US" b="true" sz="321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ML integration (Colab)</a:t>
            </a:r>
          </a:p>
        </p:txBody>
      </p:sp>
      <p:sp>
        <p:nvSpPr>
          <p:cNvPr name="AutoShape 16" id="16"/>
          <p:cNvSpPr/>
          <p:nvPr/>
        </p:nvSpPr>
        <p:spPr>
          <a:xfrm flipH="true" flipV="true">
            <a:off x="8618008" y="1897380"/>
            <a:ext cx="0" cy="736092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446323" y="9463240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9064" y="1404623"/>
            <a:ext cx="8645203" cy="61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>
                <a:solidFill>
                  <a:srgbClr val="5CE1E6"/>
                </a:solidFill>
                <a:latin typeface="Intro"/>
                <a:ea typeface="Intro"/>
                <a:cs typeface="Intro"/>
                <a:sym typeface="Intro"/>
              </a:rPr>
              <a:t>UNIQUENESS &amp; INNOVATION FACTOR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7077" y="2500264"/>
            <a:ext cx="17313846" cy="887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Multi-Domain AR Platform</a:t>
            </a:r>
          </a:p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Nutrition, AR Monuments, and Machine Lab in one unified app.</a:t>
            </a:r>
          </a:p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Engineering Assistant (RAG-Based)</a:t>
            </a:r>
          </a:p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Domain-trained chatbot using custom vector database — not generic AI replies.</a:t>
            </a:r>
          </a:p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Persistent AR Placement</a:t>
            </a:r>
          </a:p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 remain stable even after marker removal.</a:t>
            </a:r>
          </a:p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Mobile-Optimized AI Stack</a:t>
            </a:r>
          </a:p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TensorFlow Lite + Lightweight LLM + ARM64 optimized build.</a:t>
            </a:r>
          </a:p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Modular &amp; Scalable Architecture</a:t>
            </a:r>
          </a:p>
          <a:p>
            <a:pPr algn="just" marL="730721" indent="-365360" lvl="1">
              <a:lnSpc>
                <a:spcPts val="5415"/>
              </a:lnSpc>
              <a:buFont typeface="Arial"/>
              <a:buChar char="•"/>
            </a:pPr>
            <a:r>
              <a:rPr lang="en-US" b="true" sz="33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Easily extendable to healthcare, agriculture, education, and more.</a:t>
            </a:r>
          </a:p>
          <a:p>
            <a:pPr algn="just">
              <a:lnSpc>
                <a:spcPts val="5415"/>
              </a:lnSpc>
            </a:pPr>
          </a:p>
          <a:p>
            <a:pPr algn="just">
              <a:lnSpc>
                <a:spcPts val="5415"/>
              </a:lnSpc>
            </a:pPr>
            <a:r>
              <a:rPr lang="en-US" sz="338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</a:t>
            </a:r>
          </a:p>
          <a:p>
            <a:pPr algn="just">
              <a:lnSpc>
                <a:spcPts val="541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259300" y="9514551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45232" y="1199769"/>
            <a:ext cx="5827547" cy="54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6"/>
              </a:lnSpc>
            </a:pPr>
            <a:r>
              <a:rPr lang="en-US" sz="3204">
                <a:solidFill>
                  <a:srgbClr val="4483F8"/>
                </a:solidFill>
                <a:latin typeface="Intro"/>
                <a:ea typeface="Intro"/>
                <a:cs typeface="Intro"/>
                <a:sym typeface="Intro"/>
              </a:rPr>
              <a:t>Feasibility &amp; 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669123"/>
            <a:ext cx="15336872" cy="707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0"/>
              </a:lnSpc>
              <a:spcBef>
                <a:spcPct val="0"/>
              </a:spcBef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✅ Feasibility</a:t>
            </a:r>
          </a:p>
          <a:p>
            <a:pPr algn="l" marL="741903" indent="-370952" lvl="1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Built on stable stack: Unity 2022 LTS + AR Foundation + ARCore</a:t>
            </a:r>
          </a:p>
          <a:p>
            <a:pPr algn="l" marL="741903" indent="-370952" lvl="1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Mobile-optimized AI: TensorFlow Lite + Lightweight LLM</a:t>
            </a:r>
          </a:p>
          <a:p>
            <a:pPr algn="l" marL="741903" indent="-370952" lvl="1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ARM64 + IL2CPP optimized Android build</a:t>
            </a:r>
          </a:p>
          <a:p>
            <a:pPr algn="l" marL="741903" indent="-370952" lvl="1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Modular architecture for easy scaling and future expansion</a:t>
            </a:r>
          </a:p>
          <a:p>
            <a:pPr algn="l">
              <a:lnSpc>
                <a:spcPts val="4810"/>
              </a:lnSpc>
              <a:spcBef>
                <a:spcPct val="0"/>
              </a:spcBef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⚠️ Key Challenges</a:t>
            </a:r>
          </a:p>
          <a:p>
            <a:pPr algn="l" marL="741903" indent="-370952" lvl="1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 tracking accuracy under varied lighting</a:t>
            </a:r>
          </a:p>
          <a:p>
            <a:pPr algn="l" marL="741903" indent="-370952" lvl="1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Optimizing AI performance on mobile devices</a:t>
            </a:r>
          </a:p>
          <a:p>
            <a:pPr algn="l" marL="741903" indent="-370952" lvl="1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Managing memory across multiple AR scenes</a:t>
            </a:r>
          </a:p>
          <a:p>
            <a:pPr algn="l" marL="741903" indent="-370952" lvl="1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3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Ensuring reliable backend–app communication</a:t>
            </a:r>
          </a:p>
          <a:p>
            <a:pPr algn="l">
              <a:lnSpc>
                <a:spcPts val="48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259300" y="9540821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37296" y="1278560"/>
            <a:ext cx="5112382" cy="56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4483F8"/>
                </a:solidFill>
                <a:latin typeface="Intro"/>
                <a:ea typeface="Intro"/>
                <a:cs typeface="Intro"/>
                <a:sym typeface="Intro"/>
              </a:rPr>
              <a:t>Research &amp; Reference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9664" y="2370637"/>
            <a:ext cx="14710103" cy="379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232" indent="-359116" lvl="1">
              <a:lnSpc>
                <a:spcPts val="4657"/>
              </a:lnSpc>
              <a:buFont typeface="Arial"/>
              <a:buChar char="•"/>
            </a:pPr>
            <a:r>
              <a:rPr lang="en-US" b="true" sz="332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Unity Documentation – AR Foundation &amp; XR Plugin Management</a:t>
            </a:r>
          </a:p>
          <a:p>
            <a:pPr algn="l" marL="718232" indent="-359116" lvl="1">
              <a:lnSpc>
                <a:spcPts val="4657"/>
              </a:lnSpc>
              <a:buFont typeface="Arial"/>
              <a:buChar char="•"/>
            </a:pPr>
            <a:r>
              <a:rPr lang="en-US" b="true" sz="332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Google ARCore Developer Guidelines</a:t>
            </a:r>
          </a:p>
          <a:p>
            <a:pPr algn="l" marL="718232" indent="-359116" lvl="1">
              <a:lnSpc>
                <a:spcPts val="4657"/>
              </a:lnSpc>
              <a:buFont typeface="Arial"/>
              <a:buChar char="•"/>
            </a:pPr>
            <a:r>
              <a:rPr lang="en-US" b="true" sz="332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TensorFlow Lite Documentation (Mobile AI Optimization)</a:t>
            </a:r>
          </a:p>
          <a:p>
            <a:pPr algn="l" marL="718232" indent="-359116" lvl="1">
              <a:lnSpc>
                <a:spcPts val="4657"/>
              </a:lnSpc>
              <a:buFont typeface="Arial"/>
              <a:buChar char="•"/>
            </a:pPr>
            <a:r>
              <a:rPr lang="en-US" b="true" sz="332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Hugging Face Transformers &amp; Sentence-Transformers Research</a:t>
            </a:r>
          </a:p>
          <a:p>
            <a:pPr algn="l" marL="718232" indent="-359116" lvl="1">
              <a:lnSpc>
                <a:spcPts val="4657"/>
              </a:lnSpc>
              <a:buFont typeface="Arial"/>
              <a:buChar char="•"/>
            </a:pPr>
            <a:r>
              <a:rPr lang="en-US" b="true" sz="332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MobileNetV2 –  (Efficient CNN for Mobile Devices)</a:t>
            </a:r>
          </a:p>
          <a:p>
            <a:pPr algn="l" marL="718232" indent="-359116" lvl="1">
              <a:lnSpc>
                <a:spcPts val="4657"/>
              </a:lnSpc>
              <a:buFont typeface="Arial"/>
              <a:buChar char="•"/>
            </a:pPr>
            <a:r>
              <a:rPr lang="en-US" b="true" sz="332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Human–Computer Interaction Studies in AR-Based Learning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DAHBrJOop_E</dc:identifier>
  <dcterms:modified xsi:type="dcterms:W3CDTF">2011-08-01T06:04:30Z</dcterms:modified>
  <cp:revision>1</cp:revision>
  <dc:title>HACK KRMU PPT TEMPLATE.pdf</dc:title>
</cp:coreProperties>
</file>